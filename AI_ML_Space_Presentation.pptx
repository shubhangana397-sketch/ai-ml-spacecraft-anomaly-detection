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54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97705" y="2454289"/>
            <a:ext cx="36576" cy="36576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097587" y="1684216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15255" y="4176872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628" y="1572656"/>
            <a:ext cx="36576" cy="36576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2935" y="1142179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30520" y="379112"/>
            <a:ext cx="36576" cy="36576"/>
          </a:xfrm>
          <a:prstGeom prst="ellipse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569328" y="5061672"/>
            <a:ext cx="36576" cy="36576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85579" y="2392261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1880" y="2146163"/>
            <a:ext cx="36576" cy="36576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24078" y="1522116"/>
            <a:ext cx="36576" cy="36576"/>
          </a:xfrm>
          <a:prstGeom prst="ellipse">
            <a:avLst/>
          </a:prstGeom>
          <a:solidFill>
            <a:srgbClr val="FFFFFF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45179" y="2246644"/>
            <a:ext cx="36576" cy="36576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500059" y="4970614"/>
            <a:ext cx="36576" cy="36576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49558" y="225037"/>
            <a:ext cx="36576" cy="36576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353968" y="1721506"/>
            <a:ext cx="36576" cy="36576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38352" y="3025430"/>
            <a:ext cx="36576" cy="36576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962492" y="1797589"/>
            <a:ext cx="36576" cy="36576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24524" y="1356072"/>
            <a:ext cx="36576" cy="36576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49179" y="3937099"/>
            <a:ext cx="36576" cy="36576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19722" y="1839462"/>
            <a:ext cx="36576" cy="36576"/>
          </a:xfrm>
          <a:prstGeom prst="ellipse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832469" y="4939232"/>
            <a:ext cx="36576" cy="3657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77108" y="1225990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425502" y="401861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72358" y="2185653"/>
            <a:ext cx="36576" cy="36576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696708" y="1645222"/>
            <a:ext cx="36576" cy="36576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362901" y="488201"/>
            <a:ext cx="36576" cy="36576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702894" y="644558"/>
            <a:ext cx="36576" cy="36576"/>
          </a:xfrm>
          <a:prstGeom prst="ellipse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642988" y="50385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58766" y="3499351"/>
            <a:ext cx="36576" cy="36576"/>
          </a:xfrm>
          <a:prstGeom prst="ellipse">
            <a:avLst/>
          </a:prstGeom>
          <a:solidFill>
            <a:srgbClr val="FFFFFF">
              <a:alpha val="8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933658" y="1629914"/>
            <a:ext cx="36576" cy="36576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796908" y="1638621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0" y="1371600"/>
            <a:ext cx="109728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0040" y="1325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Real-Time Anomaly Detection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320040" y="19659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Autonomous Decision Support System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20040" y="2514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 Space Missions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CMAPSS Dataset  |  Isolation Forest  |  One-Class SVM  |  PyTorch Autoencoder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80160" y="1325880"/>
            <a:ext cx="731520" cy="73152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24-Min Delay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delay between Earth and Mars makes real-time human intervention impossible during failures.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206240" y="1325880"/>
            <a:ext cx="731520" cy="7315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Backup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like Chandrayaan-3, Aditya-L1, and Mars Perseverance cannot wait for Earth commands.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0353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7432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32320" y="1325880"/>
            <a:ext cx="731520" cy="7315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onboard AI must detect anomalies, predict failures, and act autonomously without human input.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92917A8-8EFF-917D-4768-6BDE67F13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1403032"/>
            <a:ext cx="577215" cy="5772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9D313E-27B1-FE8B-0CBF-C0B4C13DC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618" y="1344168"/>
            <a:ext cx="542764" cy="5536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7D87923-F29E-0216-EB90-6DA649885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93" y="1468961"/>
            <a:ext cx="438013" cy="43801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70C8E35-5266-1EF2-BBE8-5DA99501C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741" y="1344168"/>
            <a:ext cx="636678" cy="6129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NASA CMAPSS FD001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CMAPSS?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turbofan jet engine degradation as a proxy for spacecraft telemetry.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engines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to failure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sensors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engine per cycle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20,631 rows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training set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sensors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retained after variance filtering
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label: RUL &lt;= 30 cycles (last 30 cycles before failure)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1828800" cy="1280160"/>
          </a:xfrm>
          <a:prstGeom prst="rect">
            <a:avLst/>
          </a:prstGeom>
          <a:solidFill>
            <a:srgbClr val="1A4B8C">
              <a:alpha val="12000"/>
            </a:srgbClr>
          </a:solidFill>
          <a:ln w="12700">
            <a:solidFill>
              <a:srgbClr val="1A4B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091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1691640"/>
            <a:ext cx="1828800" cy="128016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208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20,631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208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246120"/>
            <a:ext cx="1828800" cy="128016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Sensors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3246120"/>
            <a:ext cx="1828800" cy="128016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2084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08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08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0100" y="1280160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01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CMAPSS FD001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train/test/RUL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2697480"/>
            <a:ext cx="2103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993392" y="1097280"/>
            <a:ext cx="1508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19172" y="1280160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19172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66544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66544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filtering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sensors selected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02152" y="2697480"/>
            <a:ext cx="2103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12464" y="109728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12464" y="1097280"/>
            <a:ext cx="1508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38244" y="1280160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3824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85616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85616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[0, 1] range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21224" y="2697480"/>
            <a:ext cx="2103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31536" y="109728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31536" y="1097280"/>
            <a:ext cx="1508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957316" y="1280160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57316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0468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Anomalies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04688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&lt;= 30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Anomaly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0296" y="2697480"/>
            <a:ext cx="2103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150608" y="109728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150608" y="1097280"/>
            <a:ext cx="1508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676388" y="1280160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676388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376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23760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 models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evaluated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1755648"/>
            <a:ext cx="91440" cy="9144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649839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random decision trees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286000"/>
            <a:ext cx="91440" cy="9144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1396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isolated faster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2907139"/>
            <a:ext cx="91440" cy="9144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" y="3528278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estimators; contamination: 15%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169164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175564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20440" y="15956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NORMAL data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28600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520440" y="212924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281635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56432" y="26471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boundary of normal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64992" y="3346704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20440" y="33009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any deviation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64992" y="387705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20440" y="38313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novelty detection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Autoencoder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169164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91072" y="1755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46520" y="15956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network: 11→8→4→8→11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2286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46520" y="212924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reconstruct normal data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28163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46520" y="265959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= anomaly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33467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46520" y="318995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epochs, Adam optimizer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38770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46520" y="3731405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function</a:t>
            </a:r>
            <a:endParaRPr lang="en-US" sz="110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AFCA68D-F3C5-7981-61FE-4951CA2C3400}"/>
              </a:ext>
            </a:extLst>
          </p:cNvPr>
          <p:cNvSpPr/>
          <p:nvPr/>
        </p:nvSpPr>
        <p:spPr>
          <a:xfrm>
            <a:off x="438912" y="3621024"/>
            <a:ext cx="91440" cy="91440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30AD41-B607-C7B7-52D0-60D85A4FEF83}"/>
              </a:ext>
            </a:extLst>
          </p:cNvPr>
          <p:cNvSpPr txBox="1"/>
          <p:nvPr/>
        </p:nvSpPr>
        <p:spPr>
          <a:xfrm>
            <a:off x="557784" y="2816352"/>
            <a:ext cx="1890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data needed</a:t>
            </a:r>
            <a:endParaRPr lang="en-US" sz="1100" dirty="0"/>
          </a:p>
          <a:p>
            <a:endParaRPr lang="en-IN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03336" cy="26334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One-Class 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0.9650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Anomalies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(Anomaly)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performer — One-Class SVM recommended for safety-critical missions (highest recall, lowest missed anomalies)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1371600" cy="6858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051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anomaly detected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0515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normal operation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1051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17,536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73152" cy="6858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" y="1801368"/>
            <a:ext cx="1371600" cy="685800"/>
          </a:xfrm>
          <a:prstGeom prst="rect">
            <a:avLst/>
          </a:prstGeom>
          <a:solidFill>
            <a:srgbClr val="1A4B8C">
              <a:alpha val="15000"/>
            </a:srgbClr>
          </a:solidFill>
          <a:ln w="12700">
            <a:solidFill>
              <a:srgbClr val="1A4B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18013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18470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Anomaly, RUL &gt; 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18470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monitoring frequency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184708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47472" y="2596896"/>
            <a:ext cx="1371600" cy="6858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2596896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2642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Anomaly, RUL 51–100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26426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preventive maintenance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26680" y="2642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392424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47472" y="3392424"/>
            <a:ext cx="1371600" cy="68580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3392424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83080" y="343814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Anomaly, RUL 31–50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343814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subsystem for shutdown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26680" y="343814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18795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74320" y="4187952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7472" y="4187952"/>
            <a:ext cx="1371600" cy="6858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7472" y="418795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83080" y="42336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Anomaly, RUL &lt;= 30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0" y="423367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subsystem / Alert ground station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26680" y="423367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83080" y="1005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10241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999309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" y="1673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selector — choose any of 100 engines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223897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— Engine ID, Cycles, RUL,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" y="2770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trend chart — normalized readings over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8386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timeline — red dots = flagged cycles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3232" y="393975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decision distribution bar chart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1051560"/>
            <a:ext cx="4480560" cy="3749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1719072"/>
            <a:ext cx="1097280" cy="36576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0" y="1719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7373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framework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286000"/>
            <a:ext cx="109728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3042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852928"/>
            <a:ext cx="109728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0" y="28529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287121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SVM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419856"/>
            <a:ext cx="1097280" cy="365760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0" y="34198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343814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autoencoder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986784"/>
            <a:ext cx="1097280" cy="365760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0" y="39867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400507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Mission Extension Ideas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7315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LSTM-Autoencoder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feedforward autoencoder with LSTM to capture time-series degradation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1143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RL agent to make adaptive decisions under uncertainty beyond simple rule-based logic.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1143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Multi-Subsystem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thermal, power, propulsion, and communication systems simultaneously.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30449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063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Aditya-L1 Solar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pipeline to solar storm datasets to detect space weather anomalies.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0" y="30449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03320" y="3063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models for onboard spacecraft computers using quantization and pruning.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432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26480" y="30449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29400" y="3063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spacecraft collaboratively train models without sharing raw telemetry data.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70647" y="2059492"/>
            <a:ext cx="36576" cy="36576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04654" y="4207417"/>
            <a:ext cx="36576" cy="36576"/>
          </a:xfrm>
          <a:prstGeom prst="ellipse">
            <a:avLst/>
          </a:prstGeom>
          <a:solidFill>
            <a:srgbClr val="FFFFFF">
              <a:alpha val="6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36309" y="101895"/>
            <a:ext cx="36576" cy="36576"/>
          </a:xfrm>
          <a:prstGeom prst="ellipse">
            <a:avLst/>
          </a:prstGeom>
          <a:solidFill>
            <a:srgbClr val="FFFFFF">
              <a:alpha val="7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86634" y="2232448"/>
            <a:ext cx="36576" cy="36576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17341" y="3934222"/>
            <a:ext cx="36576" cy="36576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73676" y="1960010"/>
            <a:ext cx="36576" cy="36576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284103" y="4411580"/>
            <a:ext cx="36576" cy="36576"/>
          </a:xfrm>
          <a:prstGeom prst="ellipse">
            <a:avLst/>
          </a:prstGeom>
          <a:solidFill>
            <a:srgbClr val="FFFFFF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65931" y="1843047"/>
            <a:ext cx="36576" cy="3657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84572" y="2796483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87985" y="604385"/>
            <a:ext cx="36576" cy="36576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059624" y="1089404"/>
            <a:ext cx="36576" cy="3657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8767" y="3001296"/>
            <a:ext cx="36576" cy="3657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867544" y="4114515"/>
            <a:ext cx="36576" cy="36576"/>
          </a:xfrm>
          <a:prstGeom prst="ellipse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57383" y="2574838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22824" y="2099275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04341" y="442841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83116" y="2261662"/>
            <a:ext cx="36576" cy="36576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48833" y="2002981"/>
            <a:ext cx="36576" cy="36576"/>
          </a:xfrm>
          <a:prstGeom prst="ellipse">
            <a:avLst/>
          </a:prstGeom>
          <a:solidFill>
            <a:srgbClr val="FFFFFF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491" y="3531364"/>
            <a:ext cx="36576" cy="365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79107" y="3347879"/>
            <a:ext cx="36576" cy="3657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71008" y="4869467"/>
            <a:ext cx="36576" cy="36576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598842" y="1267072"/>
            <a:ext cx="36576" cy="3657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99246" y="1062031"/>
            <a:ext cx="36576" cy="36576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266840" y="584295"/>
            <a:ext cx="36576" cy="36576"/>
          </a:xfrm>
          <a:prstGeom prst="ellipse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35531" y="22494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4B8C">
              <a:alpha val="70000"/>
            </a:srgbClr>
          </a:solidFill>
          <a:ln w="12700">
            <a:solidFill>
              <a:srgbClr val="1A4B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18745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accuracy — Isolation Forest    |    ROC-AUC 0.9650 — One-Class SVM    |    Full autonomous decision layer    |    Live Streamlit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260604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demonstrates that AI-driven anomaly detection is a viable foundation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autonomous spacecraft health management in deep space missions.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|  Technical Report  |  Streamlit Dashboard  |  NASA CMAPSS Dataset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624</Words>
  <Application>Microsoft Office PowerPoint</Application>
  <PresentationFormat>On-screen Show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Anomaly Detection for Deep Space Missions</dc:title>
  <dc:subject>PptxGenJS Presentation</dc:subject>
  <dc:creator>PptxGenJS</dc:creator>
  <cp:lastModifiedBy>Aayush Mukherjee</cp:lastModifiedBy>
  <cp:revision>3</cp:revision>
  <dcterms:created xsi:type="dcterms:W3CDTF">2026-03-21T16:22:19Z</dcterms:created>
  <dcterms:modified xsi:type="dcterms:W3CDTF">2026-03-21T16:33:43Z</dcterms:modified>
</cp:coreProperties>
</file>